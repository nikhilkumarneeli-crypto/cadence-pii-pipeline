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2026 Vendor Assessments by Tier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Completed Reviews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Tier 1 High Risk</c:v>
                </c:pt>
                <c:pt idx="1">
                  <c:v>Tier 2 Moderate Risk</c:v>
                </c:pt>
                <c:pt idx="2">
                  <c:v>Tier 3 Low Risk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</c:v>
                </c:pt>
                <c:pt idx="1">
                  <c:v>45</c:v>
                </c:pt>
                <c:pt idx="2">
                  <c:v>110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Pending Reviews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Tier 1 High Risk</c:v>
                </c:pt>
                <c:pt idx="1">
                  <c:v>Tier 2 Moderate Risk</c:v>
                </c:pt>
                <c:pt idx="2">
                  <c:v>Tier 3 Low Risk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6</c:v>
                </c:pt>
                <c:pt idx="1">
                  <c:v>12</c:v>
                </c:pt>
                <c:pt idx="2">
                  <c:v>18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Remediation SLA Compliance %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SLA Compliant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Treasury</c:v>
                </c:pt>
                <c:pt idx="1">
                  <c:v>Operations</c:v>
                </c:pt>
                <c:pt idx="2">
                  <c:v>Technology</c:v>
                </c:pt>
                <c:pt idx="3">
                  <c:v>Risk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</c:v>
                </c:pt>
                <c:pt idx="1">
                  <c:v>88</c:v>
                </c:pt>
                <c:pt idx="2">
                  <c:v>92</c:v>
                </c:pt>
                <c:pt idx="3">
                  <c:v>98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Past Due</c:v>
                </c:pt>
              </c:strCache>
            </c:strRef>
          </c:tx>
          <c:marker>
            <c:symbol val="none"/>
          </c:marker>
          <c:cat>
            <c:strRef>
              <c:f>Sheet1!$A$2:$A$5</c:f>
              <c:strCache>
                <c:ptCount val="4"/>
                <c:pt idx="0">
                  <c:v>Treasury</c:v>
                </c:pt>
                <c:pt idx="1">
                  <c:v>Operations</c:v>
                </c:pt>
                <c:pt idx="2">
                  <c:v>Technology</c:v>
                </c:pt>
                <c:pt idx="3">
                  <c:v>Risk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12</c:v>
                </c:pt>
                <c:pt idx="2">
                  <c:v>8</c:v>
                </c:pt>
                <c:pt idx="3">
                  <c:v>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Third-Party Assessment Progress by Tier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Division Security Remediation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